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448" r:id="rId5"/>
    <p:sldId id="259" r:id="rId6"/>
    <p:sldId id="2451" r:id="rId7"/>
    <p:sldId id="2432" r:id="rId8"/>
    <p:sldId id="2433" r:id="rId9"/>
    <p:sldId id="2452" r:id="rId10"/>
    <p:sldId id="2453" r:id="rId11"/>
    <p:sldId id="2454" r:id="rId12"/>
    <p:sldId id="2455" r:id="rId13"/>
    <p:sldId id="2456" r:id="rId14"/>
    <p:sldId id="2457" r:id="rId15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418" autoAdjust="0"/>
  </p:normalViewPr>
  <p:slideViewPr>
    <p:cSldViewPr snapToGrid="0">
      <p:cViewPr>
        <p:scale>
          <a:sx n="75" d="100"/>
          <a:sy n="75" d="100"/>
        </p:scale>
        <p:origin x="974" y="77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30/11/2024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30/11/2024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57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755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02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86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5368" y="0"/>
            <a:ext cx="12192000" cy="6858000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307" y="2425576"/>
            <a:ext cx="11490325" cy="823913"/>
          </a:xfrm>
        </p:spPr>
        <p:txBody>
          <a:bodyPr rtlCol="0"/>
          <a:lstStyle/>
          <a:p>
            <a:pPr lvl="0" algn="l" rt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Graph Summarization Algorithm Design: Maintaining Influential Nodes</a:t>
            </a:r>
            <a:endParaRPr lang="en-GB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GB"/>
              <a:t>9.24.XX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3608510"/>
            <a:ext cx="4114800" cy="2313629"/>
          </a:xfrm>
        </p:spPr>
        <p:txBody>
          <a:bodyPr rtlCol="0"/>
          <a:lstStyle/>
          <a:p>
            <a:pPr rtl="0"/>
            <a:r>
              <a:rPr lang="en-US" sz="1800" b="1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 Members</a:t>
            </a:r>
          </a:p>
          <a:p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Abdulrahman </a:t>
            </a:r>
            <a:r>
              <a:rPr lang="en-US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Alkhatib</a:t>
            </a:r>
            <a:endParaRPr lang="en-US" sz="1400" kern="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Omar Osama</a:t>
            </a:r>
          </a:p>
          <a:p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Yasir </a:t>
            </a:r>
            <a:r>
              <a:rPr lang="en-US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Fatimi</a:t>
            </a:r>
            <a:endParaRPr lang="en-US" sz="1400" kern="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Mashhoor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Shakip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rtl="0"/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97CE8-B804-70CD-F3EC-08EDC19B1A2B}"/>
              </a:ext>
            </a:extLst>
          </p:cNvPr>
          <p:cNvSpPr txBox="1">
            <a:spLocks/>
          </p:cNvSpPr>
          <p:nvPr/>
        </p:nvSpPr>
        <p:spPr>
          <a:xfrm>
            <a:off x="4038600" y="6019410"/>
            <a:ext cx="4114800" cy="42152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Instructor</a:t>
            </a: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Dr. Waqas Nawas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9856"/>
            <a:ext cx="5897218" cy="884238"/>
          </a:xfrm>
        </p:spPr>
        <p:txBody>
          <a:bodyPr rtlCol="0"/>
          <a:lstStyle/>
          <a:p>
            <a:pPr rtl="0"/>
            <a:r>
              <a:rPr lang="en-GB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5FA470-23EB-4512-8FFB-28DDAB08B0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6901" y="925673"/>
            <a:ext cx="3017520" cy="464871"/>
          </a:xfrm>
        </p:spPr>
        <p:txBody>
          <a:bodyPr rtlCol="0"/>
          <a:lstStyle/>
          <a:p>
            <a:pPr algn="l" rtl="0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Challenge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319DF-036A-473B-95D3-C5F6FF84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136" y="1471454"/>
            <a:ext cx="4646246" cy="629383"/>
          </a:xfrm>
        </p:spPr>
        <p:txBody>
          <a:bodyPr rtlCol="0">
            <a:normAutofit lnSpcReduction="10000"/>
          </a:bodyPr>
          <a:lstStyle/>
          <a:p>
            <a:pPr marL="0" lvl="0" indent="0" algn="l" rtl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Reducing graph size while retaining critical nodes and connections.</a:t>
            </a: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2</a:t>
            </a:fld>
            <a:endParaRPr lang="en-GB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0AA6450-48F9-3D19-C945-2566ED743F41}"/>
              </a:ext>
            </a:extLst>
          </p:cNvPr>
          <p:cNvSpPr txBox="1">
            <a:spLocks/>
          </p:cNvSpPr>
          <p:nvPr/>
        </p:nvSpPr>
        <p:spPr>
          <a:xfrm>
            <a:off x="6206901" y="2109415"/>
            <a:ext cx="301752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B015A-D582-6B9B-9EB2-B0A103486435}"/>
              </a:ext>
            </a:extLst>
          </p:cNvPr>
          <p:cNvSpPr txBox="1"/>
          <p:nvPr/>
        </p:nvSpPr>
        <p:spPr>
          <a:xfrm>
            <a:off x="6381136" y="2653796"/>
            <a:ext cx="6096000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Social networks, biological networks, and communication systems.</a:t>
            </a: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4D2350D-0901-ABE7-409E-898291A61CA3}"/>
              </a:ext>
            </a:extLst>
          </p:cNvPr>
          <p:cNvSpPr txBox="1">
            <a:spLocks/>
          </p:cNvSpPr>
          <p:nvPr/>
        </p:nvSpPr>
        <p:spPr>
          <a:xfrm>
            <a:off x="6206901" y="3419996"/>
            <a:ext cx="5416549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Limitations of Traditional Methods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11C93-6678-1B00-3695-71D2D70D3323}"/>
              </a:ext>
            </a:extLst>
          </p:cNvPr>
          <p:cNvSpPr txBox="1"/>
          <p:nvPr/>
        </p:nvSpPr>
        <p:spPr>
          <a:xfrm>
            <a:off x="5897217" y="3990013"/>
            <a:ext cx="6096000" cy="83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 on basic metrics like degree centrality.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lvl="1" indent="-1714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Loss of key nodes critical to network behavior.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4253F0C-26B8-21A2-10EC-7EF9B575A6D1}"/>
              </a:ext>
            </a:extLst>
          </p:cNvPr>
          <p:cNvSpPr txBox="1">
            <a:spLocks/>
          </p:cNvSpPr>
          <p:nvPr/>
        </p:nvSpPr>
        <p:spPr>
          <a:xfrm>
            <a:off x="6206901" y="4865091"/>
            <a:ext cx="301752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Proposed Solution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D08CFB-8A89-F17B-9513-22C3264ECE4A}"/>
              </a:ext>
            </a:extLst>
          </p:cNvPr>
          <p:cNvSpPr txBox="1"/>
          <p:nvPr/>
        </p:nvSpPr>
        <p:spPr>
          <a:xfrm>
            <a:off x="5867175" y="5412386"/>
            <a:ext cx="6096000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Combines centrality measures: Degree, Betweenness, Closeness, and Community Centrality.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Retains crucial nodes and ensures better graph summarization.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image9.png">
            <a:extLst>
              <a:ext uri="{FF2B5EF4-FFF2-40B4-BE49-F238E27FC236}">
                <a16:creationId xmlns:a16="http://schemas.microsoft.com/office/drawing/2014/main" id="{426E42D0-F080-0C45-A9CD-17629650168C}"/>
              </a:ext>
            </a:extLst>
          </p:cNvPr>
          <p:cNvPicPr/>
          <p:nvPr/>
        </p:nvPicPr>
        <p:blipFill>
          <a:blip r:embed="rId3"/>
          <a:srcRect r="-961" b="61044"/>
          <a:stretch>
            <a:fillRect/>
          </a:stretch>
        </p:blipFill>
        <p:spPr>
          <a:xfrm>
            <a:off x="0" y="0"/>
            <a:ext cx="5985100" cy="6858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909" y="373782"/>
            <a:ext cx="5251450" cy="560716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Related Work</a:t>
            </a:r>
            <a:endParaRPr lang="en-GB" sz="8000" dirty="0"/>
          </a:p>
        </p:txBody>
      </p:sp>
      <p:pic>
        <p:nvPicPr>
          <p:cNvPr id="8" name="Picture Placeholder 7" descr="close up of computer code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1167853"/>
            <a:ext cx="5346589" cy="560716"/>
          </a:xfrm>
        </p:spPr>
        <p:txBody>
          <a:bodyPr rtlCol="0"/>
          <a:lstStyle/>
          <a:p>
            <a:pPr rtl="0"/>
            <a:r>
              <a:rPr lang="en-US" sz="1800" kern="0" spc="0" dirty="0">
                <a:effectLst/>
                <a:latin typeface="Bahnschrift SemiBold" panose="020B0502040204020203" pitchFamily="34" charset="0"/>
                <a:ea typeface="Times New Roman" panose="02020603050405020304" pitchFamily="18" charset="0"/>
              </a:rPr>
              <a:t>HRNS (</a:t>
            </a:r>
            <a:r>
              <a:rPr lang="en-US" sz="1800" kern="0" cap="none" spc="0" dirty="0">
                <a:effectLst/>
                <a:latin typeface="Bahnschrift SemiBold" panose="020B0502040204020203" pitchFamily="34" charset="0"/>
                <a:ea typeface="Times New Roman" panose="02020603050405020304" pitchFamily="18" charset="0"/>
              </a:rPr>
              <a:t>hierarchical parallel graph summarization</a:t>
            </a:r>
            <a:r>
              <a:rPr lang="en-US" sz="1800" kern="0" spc="0" dirty="0">
                <a:effectLst/>
                <a:latin typeface="Bahnschrift SemiBold" panose="020B0502040204020203" pitchFamily="34" charset="0"/>
                <a:ea typeface="Times New Roman" panose="02020603050405020304" pitchFamily="18" charset="0"/>
              </a:rPr>
              <a:t>)</a:t>
            </a:r>
            <a:endParaRPr lang="en-GB" spc="0" dirty="0">
              <a:latin typeface="Bahnschrift SemiBold" panose="020B050204020402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3</a:t>
            </a:fld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997636-C67E-2919-6DD5-DFD71342239C}"/>
              </a:ext>
            </a:extLst>
          </p:cNvPr>
          <p:cNvSpPr txBox="1"/>
          <p:nvPr/>
        </p:nvSpPr>
        <p:spPr>
          <a:xfrm>
            <a:off x="6096000" y="1862523"/>
            <a:ext cx="6094324" cy="58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weighted importance metrics.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lvl="1" indent="-1714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Parallel processing for scalability.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9115A078-8C69-A665-BF59-C84BA2B368BA}"/>
              </a:ext>
            </a:extLst>
          </p:cNvPr>
          <p:cNvSpPr txBox="1">
            <a:spLocks/>
          </p:cNvSpPr>
          <p:nvPr/>
        </p:nvSpPr>
        <p:spPr>
          <a:xfrm>
            <a:off x="6149339" y="5281080"/>
            <a:ext cx="5346589" cy="55275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cap="none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our enhancements over</a:t>
            </a:r>
            <a:r>
              <a:rPr lang="en-US" sz="2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VEGAS</a:t>
            </a:r>
            <a:endParaRPr lang="en-GB" sz="1600" spc="0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4C96339C-A7AA-31E8-E6DE-FA0BD0BA466F}"/>
              </a:ext>
            </a:extLst>
          </p:cNvPr>
          <p:cNvSpPr txBox="1">
            <a:spLocks/>
          </p:cNvSpPr>
          <p:nvPr/>
        </p:nvSpPr>
        <p:spPr>
          <a:xfrm>
            <a:off x="6149340" y="4040132"/>
            <a:ext cx="5346589" cy="65430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VEGAS (</a:t>
            </a:r>
            <a:r>
              <a:rPr lang="en-US" sz="1800" b="1" kern="0" cap="none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 influence graph summarization</a:t>
            </a:r>
            <a:r>
              <a:rPr lang="en-US" sz="18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GB" spc="0" dirty="0"/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6154C54-95D0-4346-EE4E-CC4197774950}"/>
              </a:ext>
            </a:extLst>
          </p:cNvPr>
          <p:cNvSpPr txBox="1">
            <a:spLocks/>
          </p:cNvSpPr>
          <p:nvPr/>
        </p:nvSpPr>
        <p:spPr>
          <a:xfrm>
            <a:off x="6196909" y="2521799"/>
            <a:ext cx="5346589" cy="512193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kern="0" cap="none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our enhancements over HRNS</a:t>
            </a:r>
            <a:endParaRPr lang="en-GB" sz="1800" cap="none" spc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C823B-66D3-CBF3-3DA2-ECF0C1BD236F}"/>
              </a:ext>
            </a:extLst>
          </p:cNvPr>
          <p:cNvSpPr txBox="1"/>
          <p:nvPr/>
        </p:nvSpPr>
        <p:spPr>
          <a:xfrm>
            <a:off x="6149340" y="3074551"/>
            <a:ext cx="6094324" cy="880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scalability.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 weighting mechanism.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node retention.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493D33-4390-2770-249D-9DBEA1209CCC}"/>
              </a:ext>
            </a:extLst>
          </p:cNvPr>
          <p:cNvSpPr txBox="1"/>
          <p:nvPr/>
        </p:nvSpPr>
        <p:spPr>
          <a:xfrm>
            <a:off x="6149340" y="4701210"/>
            <a:ext cx="6129494" cy="58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Highlights flow-based influence patterns.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optimization for clarity.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28D69C-EE9F-53AA-AB46-327CDF941A2A}"/>
              </a:ext>
            </a:extLst>
          </p:cNvPr>
          <p:cNvSpPr txBox="1"/>
          <p:nvPr/>
        </p:nvSpPr>
        <p:spPr>
          <a:xfrm>
            <a:off x="6149339" y="5839998"/>
            <a:ext cx="6129494" cy="58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Emphasis on centrality.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merging process for structural preservation.</a:t>
            </a:r>
            <a:endParaRPr lang="en-GB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76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E7135-9153-4AEB-AC1F-4B951B7A7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4</a:t>
            </a:fld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EF0BA41-482E-A6BC-34F7-EFBD3262CC7B}"/>
              </a:ext>
            </a:extLst>
          </p:cNvPr>
          <p:cNvSpPr txBox="1">
            <a:spLocks/>
          </p:cNvSpPr>
          <p:nvPr/>
        </p:nvSpPr>
        <p:spPr>
          <a:xfrm>
            <a:off x="328615" y="1159625"/>
            <a:ext cx="301752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Enhanced Formula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FD8F6C82-E6D7-CAA9-1B99-423BF3A55F66}"/>
              </a:ext>
            </a:extLst>
          </p:cNvPr>
          <p:cNvSpPr txBox="1">
            <a:spLocks/>
          </p:cNvSpPr>
          <p:nvPr/>
        </p:nvSpPr>
        <p:spPr>
          <a:xfrm>
            <a:off x="328615" y="3615945"/>
            <a:ext cx="301752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Metrics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E3564-1E3B-2FF1-FB28-1E431E3D1B4B}"/>
              </a:ext>
            </a:extLst>
          </p:cNvPr>
          <p:cNvSpPr txBox="1"/>
          <p:nvPr/>
        </p:nvSpPr>
        <p:spPr>
          <a:xfrm>
            <a:off x="328614" y="4265232"/>
            <a:ext cx="10105705" cy="213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Degree Centrality: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Measures direct links.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Betweenness Centrality: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Identifies bridging nodes.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Closeness Centrality: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Evaluates proximity to others.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Community Centrality: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Highlights connections between clusters.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Domain-Specific Metric: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Application-based importance.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71CBF52-DBF8-411E-CC1E-634C17992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19" y="1721181"/>
            <a:ext cx="11403102" cy="17076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98FCFF1-4C56-3A35-95D9-84171B46B85E}"/>
              </a:ext>
            </a:extLst>
          </p:cNvPr>
          <p:cNvSpPr txBox="1"/>
          <p:nvPr/>
        </p:nvSpPr>
        <p:spPr>
          <a:xfrm>
            <a:off x="2504440" y="356125"/>
            <a:ext cx="7183120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kern="0" cap="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2800" b="1" kern="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ybrid </a:t>
            </a:r>
            <a:r>
              <a:rPr lang="en-US" sz="2800" b="1" kern="0" cap="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2800" b="1" kern="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eighted </a:t>
            </a:r>
            <a:r>
              <a:rPr lang="en-US" sz="2800" b="1" kern="0" cap="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b="1" kern="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mportance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6947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>
            <a:extLst>
              <a:ext uri="{FF2B5EF4-FFF2-40B4-BE49-F238E27FC236}">
                <a16:creationId xmlns:a16="http://schemas.microsoft.com/office/drawing/2014/main" id="{FAAB2787-6A77-4A87-993D-DDAF9241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24572"/>
            <a:ext cx="11002962" cy="823913"/>
          </a:xfrm>
        </p:spPr>
        <p:txBody>
          <a:bodyPr rtlCol="0">
            <a:normAutofit/>
          </a:bodyPr>
          <a:lstStyle/>
          <a:p>
            <a:pPr rtl="0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Node Merging Strategy</a:t>
            </a:r>
            <a:endParaRPr lang="en-GB" sz="4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2F439-9B68-4159-977F-8EC563FB15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5</a:t>
            </a:fld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47B792-A0AE-3BFA-C00C-1F1370ADC4CF}"/>
              </a:ext>
            </a:extLst>
          </p:cNvPr>
          <p:cNvSpPr txBox="1">
            <a:spLocks/>
          </p:cNvSpPr>
          <p:nvPr/>
        </p:nvSpPr>
        <p:spPr>
          <a:xfrm>
            <a:off x="378857" y="848485"/>
            <a:ext cx="301752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Original Method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3A3F9-396C-78FD-5906-F9FFCCDF0228}"/>
              </a:ext>
            </a:extLst>
          </p:cNvPr>
          <p:cNvSpPr txBox="1"/>
          <p:nvPr/>
        </p:nvSpPr>
        <p:spPr>
          <a:xfrm>
            <a:off x="685800" y="140799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Minimized edge storage overhead</a:t>
            </a:r>
            <a:endParaRPr lang="en-GB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4E93E90-069D-C30F-0031-3F4CADA7B428}"/>
              </a:ext>
            </a:extLst>
          </p:cNvPr>
          <p:cNvSpPr txBox="1">
            <a:spLocks/>
          </p:cNvSpPr>
          <p:nvPr/>
        </p:nvSpPr>
        <p:spPr>
          <a:xfrm>
            <a:off x="2532185" y="3892787"/>
            <a:ext cx="6933362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</a:t>
            </a:r>
            <a:endParaRPr lang="en-GB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F9B9E8EE-A3B9-B2F5-7069-66B315C70514}"/>
              </a:ext>
            </a:extLst>
          </p:cNvPr>
          <p:cNvSpPr txBox="1">
            <a:spLocks/>
          </p:cNvSpPr>
          <p:nvPr/>
        </p:nvSpPr>
        <p:spPr>
          <a:xfrm>
            <a:off x="378857" y="1854076"/>
            <a:ext cx="301752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Enhanced Method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E36B5B-A3B9-74D9-2268-E3531298E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89" y="2553340"/>
            <a:ext cx="7487695" cy="11050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147FAAD-9671-65D9-E21F-EC6F6FC724FC}"/>
              </a:ext>
            </a:extLst>
          </p:cNvPr>
          <p:cNvSpPr txBox="1"/>
          <p:nvPr/>
        </p:nvSpPr>
        <p:spPr>
          <a:xfrm>
            <a:off x="2115379" y="4385926"/>
            <a:ext cx="7641570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Nodes A (I=10I = 10I=10) and B (I=20I = 20I=20), edge cost reduction = 5.</a:t>
            </a:r>
            <a:endParaRPr lang="en-GB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Priority score p(</a:t>
            </a:r>
            <a:r>
              <a:rPr lang="en-US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)=0.6×5+0.4×30=14p(u, v) = 0.6 \times 5 + 0.4 \times 30 = 14p(</a:t>
            </a:r>
            <a:r>
              <a:rPr lang="en-US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)=0.6×5+0.4×30=14.</a:t>
            </a:r>
            <a:endParaRPr lang="en-GB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9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E207A-0D0B-2737-76E7-76D14796D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6</a:t>
            </a:fld>
            <a:endParaRPr lang="en-GB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795D982-DB34-6DC2-311B-39C7237498BE}"/>
              </a:ext>
            </a:extLst>
          </p:cNvPr>
          <p:cNvSpPr txBox="1">
            <a:spLocks/>
          </p:cNvSpPr>
          <p:nvPr/>
        </p:nvSpPr>
        <p:spPr>
          <a:xfrm>
            <a:off x="308518" y="507597"/>
            <a:ext cx="4775948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 Steps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20AA7-EF8D-C878-DE21-0AD3B7FF035F}"/>
              </a:ext>
            </a:extLst>
          </p:cNvPr>
          <p:cNvSpPr txBox="1"/>
          <p:nvPr/>
        </p:nvSpPr>
        <p:spPr>
          <a:xfrm>
            <a:off x="308517" y="1087618"/>
            <a:ext cx="4775947" cy="4044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Load Graph: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Initialize G=(V,E)G = (V, E)G=(V,E).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Node Importance Calculation: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Compute importance I(u)I(u)I(u) using hybrid metrics.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Priority Queue: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Insert node pairs (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u,v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)(u, v)(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u,v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based on merging score p(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u,v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)p(u, v)p(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u,v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Node Merging: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Iteratively merge pairs with the highest priority until desired size is reached.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Output: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Summarized graph with retained nodes and edges.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C5A4DE-70C9-7F4F-B56F-17AA04E89EF0}"/>
              </a:ext>
            </a:extLst>
          </p:cNvPr>
          <p:cNvSpPr txBox="1">
            <a:spLocks/>
          </p:cNvSpPr>
          <p:nvPr/>
        </p:nvSpPr>
        <p:spPr>
          <a:xfrm>
            <a:off x="5836786" y="507597"/>
            <a:ext cx="4775948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 Analysis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D836BD-CAE8-FD2C-0712-306EE9FCF855}"/>
              </a:ext>
            </a:extLst>
          </p:cNvPr>
          <p:cNvCxnSpPr/>
          <p:nvPr/>
        </p:nvCxnSpPr>
        <p:spPr>
          <a:xfrm>
            <a:off x="5375868" y="813916"/>
            <a:ext cx="0" cy="5225143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484DB31-0E24-7A58-E49C-17F9A04561B2}"/>
              </a:ext>
            </a:extLst>
          </p:cNvPr>
          <p:cNvSpPr txBox="1"/>
          <p:nvPr/>
        </p:nvSpPr>
        <p:spPr>
          <a:xfrm>
            <a:off x="5948624" y="1159657"/>
            <a:ext cx="1896673" cy="36933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Time Complexity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ECDCA-C0E9-82B1-A01E-0DD2CA71E639}"/>
              </a:ext>
            </a:extLst>
          </p:cNvPr>
          <p:cNvSpPr txBox="1"/>
          <p:nvPr/>
        </p:nvSpPr>
        <p:spPr>
          <a:xfrm>
            <a:off x="5898893" y="1716178"/>
            <a:ext cx="6094324" cy="977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Degree Centrality: O(V+E)O(V + E)O(V+E).</a:t>
            </a:r>
            <a:endParaRPr lang="en-GB" sz="1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Closeness Centrality: O(V×(V+E))O(V \times (V + E))O(V×(V+E)).</a:t>
            </a:r>
            <a:endParaRPr lang="en-GB" sz="1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Overall for Dense Graphs: O(V2log⁡V)O(V^2 \log V)O(V2logV).</a:t>
            </a:r>
            <a:endParaRPr lang="en-GB" sz="1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11F04-C635-1BB2-C7FB-D53460685B22}"/>
              </a:ext>
            </a:extLst>
          </p:cNvPr>
          <p:cNvSpPr txBox="1"/>
          <p:nvPr/>
        </p:nvSpPr>
        <p:spPr>
          <a:xfrm>
            <a:off x="5948624" y="3057155"/>
            <a:ext cx="1960793" cy="36933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Space Complexity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7037A-DD63-04A2-E46E-5A7ED902168D}"/>
              </a:ext>
            </a:extLst>
          </p:cNvPr>
          <p:cNvSpPr txBox="1"/>
          <p:nvPr/>
        </p:nvSpPr>
        <p:spPr>
          <a:xfrm>
            <a:off x="5898893" y="3530210"/>
            <a:ext cx="6094324" cy="160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Storing centralities and weights: O(</a:t>
            </a:r>
            <a:r>
              <a:rPr lang="en-US" sz="16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V×k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)O(V \times k)O(</a:t>
            </a:r>
            <a:r>
              <a:rPr lang="en-US" sz="16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V×k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where </a:t>
            </a:r>
            <a:r>
              <a:rPr lang="en-US" sz="16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kkk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number of metrics.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Two-hop strategy: O(V×Δ2)O(V \times \Delta^2)O(V×Δ2), Δ\</a:t>
            </a:r>
            <a:r>
              <a:rPr lang="en-US" sz="16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DeltaΔ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Max node degree.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Total: O(V3)O(V^3)O(V3) for dense graphs.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33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5970-AA02-3962-4610-61E61075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24572"/>
            <a:ext cx="11002962" cy="823913"/>
          </a:xfrm>
        </p:spPr>
        <p:txBody>
          <a:bodyPr/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Theoretical Evaluation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63D69D-AC48-5C72-049E-85FAFB7E94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7</a:t>
            </a:fld>
            <a:endParaRPr lang="en-GB" noProof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BC3F2C1-1EDB-DF55-4BB5-10E1DCCCAAC8}"/>
              </a:ext>
            </a:extLst>
          </p:cNvPr>
          <p:cNvSpPr txBox="1">
            <a:spLocks/>
          </p:cNvSpPr>
          <p:nvPr/>
        </p:nvSpPr>
        <p:spPr>
          <a:xfrm>
            <a:off x="308518" y="728661"/>
            <a:ext cx="4384062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Correctness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5A9B4-BAF7-AE78-AD47-DDFF2D83155D}"/>
              </a:ext>
            </a:extLst>
          </p:cNvPr>
          <p:cNvSpPr txBox="1"/>
          <p:nvPr/>
        </p:nvSpPr>
        <p:spPr>
          <a:xfrm>
            <a:off x="394398" y="1364892"/>
            <a:ext cx="6094324" cy="70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Integrates multiple centrality measures.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Balances structural efficiency and information retention.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0FD8EC-A02B-7570-2298-85AD7F6BE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73709"/>
              </p:ext>
            </p:extLst>
          </p:nvPr>
        </p:nvGraphicFramePr>
        <p:xfrm>
          <a:off x="594519" y="2590147"/>
          <a:ext cx="10529006" cy="3780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5146">
                  <a:extLst>
                    <a:ext uri="{9D8B030D-6E8A-4147-A177-3AD203B41FA5}">
                      <a16:colId xmlns:a16="http://schemas.microsoft.com/office/drawing/2014/main" val="3815830566"/>
                    </a:ext>
                  </a:extLst>
                </a:gridCol>
                <a:gridCol w="2095058">
                  <a:extLst>
                    <a:ext uri="{9D8B030D-6E8A-4147-A177-3AD203B41FA5}">
                      <a16:colId xmlns:a16="http://schemas.microsoft.com/office/drawing/2014/main" val="207886"/>
                    </a:ext>
                  </a:extLst>
                </a:gridCol>
                <a:gridCol w="2095058">
                  <a:extLst>
                    <a:ext uri="{9D8B030D-6E8A-4147-A177-3AD203B41FA5}">
                      <a16:colId xmlns:a16="http://schemas.microsoft.com/office/drawing/2014/main" val="1340243745"/>
                    </a:ext>
                  </a:extLst>
                </a:gridCol>
                <a:gridCol w="3303744">
                  <a:extLst>
                    <a:ext uri="{9D8B030D-6E8A-4147-A177-3AD203B41FA5}">
                      <a16:colId xmlns:a16="http://schemas.microsoft.com/office/drawing/2014/main" val="111117674"/>
                    </a:ext>
                  </a:extLst>
                </a:gridCol>
              </a:tblGrid>
              <a:tr h="403871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837126"/>
                  </a:ext>
                </a:extLst>
              </a:tr>
              <a:tr h="5884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1200" dirty="0">
                          <a:effectLst/>
                        </a:rPr>
                        <a:t>1. Improved Importance Assessment</a:t>
                      </a: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>
                          <a:effectLst/>
                        </a:rPr>
                        <a:t>- By providing multiple centrality measures</a:t>
                      </a:r>
                      <a:endParaRPr lang="en-GB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1200">
                          <a:effectLst/>
                        </a:rPr>
                        <a:t>1. Complexity of Centrality Calculations</a:t>
                      </a:r>
                      <a:endParaRPr lang="en-GB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>
                          <a:effectLst/>
                        </a:rPr>
                        <a:t>- Computing some centralities measures can be computationally expensive</a:t>
                      </a:r>
                      <a:endParaRPr lang="en-GB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077129"/>
                  </a:ext>
                </a:extLst>
              </a:tr>
              <a:tr h="1080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1200" dirty="0">
                          <a:effectLst/>
                        </a:rPr>
                        <a:t>2. Customization and Flexibility</a:t>
                      </a: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>
                          <a:effectLst/>
                        </a:rPr>
                        <a:t>- The tunable parameter α balances storage and retaining key information</a:t>
                      </a:r>
                      <a:endParaRPr lang="en-GB" sz="12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>
                          <a:effectLst/>
                        </a:rPr>
                        <a:t>- The merging operator ⊕ customized based on merging scenario</a:t>
                      </a:r>
                      <a:endParaRPr lang="en-GB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1200">
                          <a:effectLst/>
                        </a:rPr>
                        <a:t>2. Parameter Sensitivity</a:t>
                      </a:r>
                      <a:endParaRPr lang="en-GB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>
                          <a:effectLst/>
                        </a:rPr>
                        <a:t>- The performance of the algorithm heavily depends on weights &amp; α choices</a:t>
                      </a:r>
                      <a:endParaRPr lang="en-GB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690957"/>
                  </a:ext>
                </a:extLst>
              </a:tr>
              <a:tr h="17072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1200" dirty="0">
                          <a:effectLst/>
                        </a:rPr>
                        <a:t>3. Efficiency in Large Graphs</a:t>
                      </a: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 dirty="0">
                          <a:effectLst/>
                        </a:rPr>
                        <a:t>- Two-hop strategy reduces search space for merging in large graphs</a:t>
                      </a:r>
                      <a:endParaRPr lang="en-GB" sz="12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 dirty="0">
                          <a:effectLst/>
                        </a:rPr>
                        <a:t>- Parallel processing can be integrated into the framework to further accelerate performance</a:t>
                      </a: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1200" dirty="0">
                          <a:effectLst/>
                        </a:rPr>
                        <a:t>3. Loss of Minor </a:t>
                      </a:r>
                      <a:r>
                        <a:rPr lang="en-GB" sz="1200" dirty="0" err="1">
                          <a:effectLst/>
                        </a:rPr>
                        <a:t>Informations</a:t>
                      </a: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</a:pPr>
                      <a:r>
                        <a:rPr lang="en-GB" sz="900" dirty="0">
                          <a:effectLst/>
                        </a:rPr>
                        <a:t>- As the algorithm prioritizing nodes, the less important nodes will be lost, and their connection will be dismissed too</a:t>
                      </a:r>
                      <a:endParaRPr lang="en-GB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33193"/>
                  </a:ext>
                </a:extLst>
              </a:tr>
            </a:tbl>
          </a:graphicData>
        </a:graphic>
      </p:graphicFrame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6255139-0DE4-6F07-987F-20D8A7E9D0CB}"/>
              </a:ext>
            </a:extLst>
          </p:cNvPr>
          <p:cNvSpPr txBox="1">
            <a:spLocks/>
          </p:cNvSpPr>
          <p:nvPr/>
        </p:nvSpPr>
        <p:spPr>
          <a:xfrm>
            <a:off x="594519" y="2603338"/>
            <a:ext cx="5116294" cy="41116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lang="en-GB" sz="1600" dirty="0">
                <a:effectLst/>
              </a:rPr>
              <a:t>Advantages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F169A52-E1DF-351B-CDE5-40687ADB461C}"/>
              </a:ext>
            </a:extLst>
          </p:cNvPr>
          <p:cNvSpPr txBox="1">
            <a:spLocks/>
          </p:cNvSpPr>
          <p:nvPr/>
        </p:nvSpPr>
        <p:spPr>
          <a:xfrm>
            <a:off x="5710813" y="2603338"/>
            <a:ext cx="5412712" cy="41116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lang="en-GB" sz="1600" dirty="0">
                <a:effectLst/>
              </a:rPr>
              <a:t>Limitations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D41A49-ABA1-724F-44C5-A103A43A8A63}"/>
              </a:ext>
            </a:extLst>
          </p:cNvPr>
          <p:cNvCxnSpPr/>
          <p:nvPr/>
        </p:nvCxnSpPr>
        <p:spPr>
          <a:xfrm>
            <a:off x="5710813" y="3014505"/>
            <a:ext cx="0" cy="3356150"/>
          </a:xfrm>
          <a:prstGeom prst="lin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27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73305A-7F07-8DC8-76BA-FB1B78F50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8</a:t>
            </a:fld>
            <a:endParaRPr lang="en-GB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EEB750-B61E-C465-431B-53ED472FB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21295"/>
              </p:ext>
            </p:extLst>
          </p:nvPr>
        </p:nvGraphicFramePr>
        <p:xfrm>
          <a:off x="518160" y="782955"/>
          <a:ext cx="10810240" cy="563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5120">
                  <a:extLst>
                    <a:ext uri="{9D8B030D-6E8A-4147-A177-3AD203B41FA5}">
                      <a16:colId xmlns:a16="http://schemas.microsoft.com/office/drawing/2014/main" val="1269279632"/>
                    </a:ext>
                  </a:extLst>
                </a:gridCol>
                <a:gridCol w="5405120">
                  <a:extLst>
                    <a:ext uri="{9D8B030D-6E8A-4147-A177-3AD203B41FA5}">
                      <a16:colId xmlns:a16="http://schemas.microsoft.com/office/drawing/2014/main" val="3270319019"/>
                    </a:ext>
                  </a:extLst>
                </a:gridCol>
              </a:tblGrid>
              <a:tr h="1131185"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33091"/>
                  </a:ext>
                </a:extLst>
              </a:tr>
              <a:tr h="897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Applicable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Highly Applicable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419866"/>
                  </a:ext>
                </a:extLst>
              </a:tr>
              <a:tr h="1238025">
                <a:tc>
                  <a:txBody>
                    <a:bodyPr/>
                    <a:lstStyle/>
                    <a:p>
                      <a:pPr lvl="1" algn="l" rtl="0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Planar Graphs: Merging may break planarity</a:t>
                      </a:r>
                      <a:endParaRPr lang="en-GB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Undirected Graphs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643920"/>
                  </a:ext>
                </a:extLst>
              </a:tr>
              <a:tr h="1238025">
                <a:tc>
                  <a:txBody>
                    <a:bodyPr/>
                    <a:lstStyle/>
                    <a:p>
                      <a:pPr lvl="1" algn="l" rtl="0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Hypergraphs: Two-hop merging doesn’t directly apply</a:t>
                      </a:r>
                      <a:endParaRPr lang="en-GB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rtl="0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Directed Graphs (with minor adjustments)</a:t>
                      </a:r>
                      <a:endParaRPr lang="en-GB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20823"/>
                  </a:ext>
                </a:extLst>
              </a:tr>
              <a:tr h="1131185"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1" algn="l" rtl="0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Weighted and Sparse Graphs</a:t>
                      </a:r>
                      <a:endParaRPr lang="en-GB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01089"/>
                  </a:ext>
                </a:extLst>
              </a:tr>
            </a:tbl>
          </a:graphicData>
        </a:graphic>
      </p:graphicFrame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A0EC8AF-0997-B78F-89CC-E3C9DDE51A23}"/>
              </a:ext>
            </a:extLst>
          </p:cNvPr>
          <p:cNvSpPr txBox="1">
            <a:spLocks/>
          </p:cNvSpPr>
          <p:nvPr/>
        </p:nvSpPr>
        <p:spPr>
          <a:xfrm>
            <a:off x="518160" y="782955"/>
            <a:ext cx="10810240" cy="115760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Applicability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8567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6A10-5C21-4CAD-059D-AEEFA85E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68351"/>
            <a:ext cx="11002962" cy="823913"/>
          </a:xfrm>
        </p:spPr>
        <p:txBody>
          <a:bodyPr/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A62CC0-2B55-21AE-B932-9EDECC674E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9</a:t>
            </a:fld>
            <a:endParaRPr lang="en-GB" noProof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F7992D4A-E720-7E73-61E1-C4EA90371327}"/>
              </a:ext>
            </a:extLst>
          </p:cNvPr>
          <p:cNvSpPr txBox="1">
            <a:spLocks/>
          </p:cNvSpPr>
          <p:nvPr/>
        </p:nvSpPr>
        <p:spPr>
          <a:xfrm>
            <a:off x="379638" y="992264"/>
            <a:ext cx="3064602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Improvements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E1D8F-37F7-D0E1-A21E-D64FFBE2FF9F}"/>
              </a:ext>
            </a:extLst>
          </p:cNvPr>
          <p:cNvSpPr txBox="1"/>
          <p:nvPr/>
        </p:nvSpPr>
        <p:spPr>
          <a:xfrm>
            <a:off x="467360" y="1651276"/>
            <a:ext cx="8158480" cy="107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Enhanced node ranking with hybrid metrics.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Flexible importance aggregation.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Optimized two-hop merging strategy with tunable parameter α\alphaα.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00BE50-13D1-ECC8-2C6A-6DB1545E3CA3}"/>
              </a:ext>
            </a:extLst>
          </p:cNvPr>
          <p:cNvSpPr txBox="1">
            <a:spLocks/>
          </p:cNvSpPr>
          <p:nvPr/>
        </p:nvSpPr>
        <p:spPr>
          <a:xfrm>
            <a:off x="379638" y="2966323"/>
            <a:ext cx="3064602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Gains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EDEA7-4281-5721-7EEC-74B478CE50D6}"/>
              </a:ext>
            </a:extLst>
          </p:cNvPr>
          <p:cNvSpPr txBox="1"/>
          <p:nvPr/>
        </p:nvSpPr>
        <p:spPr>
          <a:xfrm>
            <a:off x="467360" y="3718826"/>
            <a:ext cx="8046720" cy="107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 retention of key nodes.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Lower error rates.</a:t>
            </a: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Scalable for large datasets.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5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9FDE-69D1-29A9-0048-D839BAA2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1391"/>
            <a:ext cx="11002962" cy="823913"/>
          </a:xfrm>
        </p:spPr>
        <p:txBody>
          <a:bodyPr/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69751-FBF3-A366-A1B4-80410D44A2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10</a:t>
            </a:fld>
            <a:endParaRPr lang="en-GB" noProof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6F685C4-1418-F4E6-277A-383A10247C50}"/>
              </a:ext>
            </a:extLst>
          </p:cNvPr>
          <p:cNvSpPr txBox="1">
            <a:spLocks/>
          </p:cNvSpPr>
          <p:nvPr/>
        </p:nvSpPr>
        <p:spPr>
          <a:xfrm>
            <a:off x="379638" y="992264"/>
            <a:ext cx="3064602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D4E64-C858-3E85-63EF-33050D68C44B}"/>
              </a:ext>
            </a:extLst>
          </p:cNvPr>
          <p:cNvSpPr txBox="1"/>
          <p:nvPr/>
        </p:nvSpPr>
        <p:spPr>
          <a:xfrm>
            <a:off x="379638" y="1641116"/>
            <a:ext cx="9942922" cy="107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HRNS algorithm improves accuracy, adaptability, and efficiency.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Integrates multiple centrality measures for comprehensive importance assessment.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Optimized merging strategy balances storage and information retention.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240A64-E5A4-70F3-602B-B2BBDB4E78E0}"/>
              </a:ext>
            </a:extLst>
          </p:cNvPr>
          <p:cNvSpPr txBox="1">
            <a:spLocks/>
          </p:cNvSpPr>
          <p:nvPr/>
        </p:nvSpPr>
        <p:spPr>
          <a:xfrm>
            <a:off x="379638" y="2924582"/>
            <a:ext cx="3064602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Outcomes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30DF9-E26B-365C-C661-FB8E55CCC079}"/>
              </a:ext>
            </a:extLst>
          </p:cNvPr>
          <p:cNvSpPr txBox="1"/>
          <p:nvPr/>
        </p:nvSpPr>
        <p:spPr>
          <a:xfrm>
            <a:off x="379638" y="3598009"/>
            <a:ext cx="6096000" cy="70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Accurate graph summaries.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Scalability for real-world applications.</a:t>
            </a:r>
            <a:endParaRPr lang="en-GB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460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9B8C-DA81-0A0D-1396-9988B91A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3032601" cy="823913"/>
          </a:xfrm>
        </p:spPr>
        <p:txBody>
          <a:bodyPr/>
          <a:lstStyle/>
          <a:p>
            <a:r>
              <a:rPr lang="en-US" sz="1800" b="1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  <a:endParaRPr lang="en-GB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47CBA-FA60-D2F9-E60A-D35578C29C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11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AA35A-6493-8B64-7CE0-2F1099DD7CFF}"/>
              </a:ext>
            </a:extLst>
          </p:cNvPr>
          <p:cNvSpPr txBox="1"/>
          <p:nvPr/>
        </p:nvSpPr>
        <p:spPr>
          <a:xfrm>
            <a:off x="1442720" y="1591704"/>
            <a:ext cx="10007600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Liu, Q. et al. A Hierarchical Parallel Graph Summarization Approach Based on Ranking Nodes, 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Applied Sciences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2023.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Shi, L. et al. VEGAS: Visual Influence Graph Summarization on Citation Networks, 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IEEE Transactions on Knowledge and Data Engineering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2015.</a:t>
            </a:r>
            <a:endParaRPr lang="en-GB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8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{CC64AE59-5658-495B-92C8-58D40DBFF543}tf55661986_win32</Template>
  <TotalTime>82</TotalTime>
  <Words>887</Words>
  <Application>Microsoft Office PowerPoint</Application>
  <PresentationFormat>Widescreen</PresentationFormat>
  <Paragraphs>126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Bahnschrift SemiBold</vt:lpstr>
      <vt:lpstr>Biome Light</vt:lpstr>
      <vt:lpstr>Calibri</vt:lpstr>
      <vt:lpstr>Calibri Light</vt:lpstr>
      <vt:lpstr>Courier New</vt:lpstr>
      <vt:lpstr>Times New Roman</vt:lpstr>
      <vt:lpstr>Wingdings</vt:lpstr>
      <vt:lpstr>Office Theme</vt:lpstr>
      <vt:lpstr>Graph Summarization Algorithm Design: Maintaining Influential Nodes</vt:lpstr>
      <vt:lpstr>INTRODUCTION</vt:lpstr>
      <vt:lpstr>Related Work</vt:lpstr>
      <vt:lpstr>PowerPoint Presentation</vt:lpstr>
      <vt:lpstr>Node Merging Strategy</vt:lpstr>
      <vt:lpstr>PowerPoint Presentation</vt:lpstr>
      <vt:lpstr>Theoretical Evaluation</vt:lpstr>
      <vt:lpstr>PowerPoint Presentation</vt:lpstr>
      <vt:lpstr>Discussion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مشهور  شكيب  شاهر عبدالله</dc:creator>
  <cp:lastModifiedBy>مشهور  شكيب  شاهر عبدالله</cp:lastModifiedBy>
  <cp:revision>2</cp:revision>
  <dcterms:created xsi:type="dcterms:W3CDTF">2024-11-30T18:17:17Z</dcterms:created>
  <dcterms:modified xsi:type="dcterms:W3CDTF">2024-11-30T19:39:19Z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